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c89ee2bdbb4cf5" /><Relationship Type="http://schemas.openxmlformats.org/officeDocument/2006/relationships/extended-properties" Target="/docProps/app.xml" Id="R2af289ac3b104dc0" /><Relationship Type="http://schemas.openxmlformats.org/officeDocument/2006/relationships/officeDocument" Target="/ppt/presentation.xml" Id="R69265ada66dd41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ead2a1bb3b477d"/>
  </p:sldMasterIdLst>
  <p:notesMasterIdLst>
    <p:notesMasterId xmlns:r="http://schemas.openxmlformats.org/officeDocument/2006/relationships" r:id="R1565f2c92e7d4912"/>
  </p:notesMasterIdLst>
  <p:sldIdLst>
    <p:sldId xmlns:r="http://schemas.openxmlformats.org/officeDocument/2006/relationships" id="256" r:id="R9ffe3238c5e94fa9"/>
    <p:sldId xmlns:r="http://schemas.openxmlformats.org/officeDocument/2006/relationships" id="257" r:id="R21395c0e4b9342a8"/>
    <p:sldId xmlns:r="http://schemas.openxmlformats.org/officeDocument/2006/relationships" id="258" r:id="R8d86bb9abead4221"/>
    <p:sldId xmlns:r="http://schemas.openxmlformats.org/officeDocument/2006/relationships" id="259" r:id="R88ae68f638b74b00"/>
    <p:sldId xmlns:r="http://schemas.openxmlformats.org/officeDocument/2006/relationships" id="260" r:id="R0639ce82eab54496"/>
    <p:sldId xmlns:r="http://schemas.openxmlformats.org/officeDocument/2006/relationships" id="261" r:id="Rb0bf43a56a9548f1"/>
    <p:sldId xmlns:r="http://schemas.openxmlformats.org/officeDocument/2006/relationships" id="262" r:id="R09038dac3465476a"/>
    <p:sldId xmlns:r="http://schemas.openxmlformats.org/officeDocument/2006/relationships" id="263" r:id="R8d2a485a342243d9"/>
    <p:sldId xmlns:r="http://schemas.openxmlformats.org/officeDocument/2006/relationships" id="264" r:id="Rc9a95b592a4042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8e43c23e644dec" /><Relationship Type="http://schemas.openxmlformats.org/officeDocument/2006/relationships/slideMaster" Target="/ppt/slideMasters/slideMaster1.xml" Id="Rd8ead2a1bb3b477d" /><Relationship Type="http://schemas.openxmlformats.org/officeDocument/2006/relationships/notesMaster" Target="/ppt/notesMasters/notesMaster1.xml" Id="R1565f2c92e7d4912" /><Relationship Type="http://schemas.openxmlformats.org/officeDocument/2006/relationships/presProps" Target="/ppt/presProps.xml" Id="Rcdbadea2d1fb41d0" /><Relationship Type="http://schemas.openxmlformats.org/officeDocument/2006/relationships/tableStyles" Target="/ppt/tableStyles.xml" Id="R6761a92f42c1442f" /><Relationship Type="http://schemas.openxmlformats.org/officeDocument/2006/relationships/slide" Target="/ppt/slides/slide1.xml" Id="R9ffe3238c5e94fa9" /><Relationship Type="http://schemas.openxmlformats.org/officeDocument/2006/relationships/slide" Target="/ppt/slides/slide2.xml" Id="R21395c0e4b9342a8" /><Relationship Type="http://schemas.openxmlformats.org/officeDocument/2006/relationships/slide" Target="/ppt/slides/slide3.xml" Id="R8d86bb9abead4221" /><Relationship Type="http://schemas.openxmlformats.org/officeDocument/2006/relationships/slide" Target="/ppt/slides/slide4.xml" Id="R88ae68f638b74b00" /><Relationship Type="http://schemas.openxmlformats.org/officeDocument/2006/relationships/slide" Target="/ppt/slides/slide5.xml" Id="R0639ce82eab54496" /><Relationship Type="http://schemas.openxmlformats.org/officeDocument/2006/relationships/slide" Target="/ppt/slides/slide6.xml" Id="Rb0bf43a56a9548f1" /><Relationship Type="http://schemas.openxmlformats.org/officeDocument/2006/relationships/slide" Target="/ppt/slides/slide7.xml" Id="R09038dac3465476a" /><Relationship Type="http://schemas.openxmlformats.org/officeDocument/2006/relationships/slide" Target="/ppt/slides/slide8.xml" Id="R8d2a485a342243d9" /><Relationship Type="http://schemas.openxmlformats.org/officeDocument/2006/relationships/slide" Target="/ppt/slides/slide9.xml" Id="Rc9a95b592a4042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27660d5ad943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5ce68f7acb4a29" /><Relationship Type="http://schemas.openxmlformats.org/officeDocument/2006/relationships/notesMaster" Target="/ppt/notesMasters/notesMaster1.xml" Id="R8647b696fbdf45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e3d2be99d64445" /><Relationship Type="http://schemas.openxmlformats.org/officeDocument/2006/relationships/notesMaster" Target="/ppt/notesMasters/notesMaster1.xml" Id="Raff5c8e511da44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dbacff2b6d4e25" /><Relationship Type="http://schemas.openxmlformats.org/officeDocument/2006/relationships/notesMaster" Target="/ppt/notesMasters/notesMaster1.xml" Id="R0244457f4fa14b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e4bcfc0a6843f0" /><Relationship Type="http://schemas.openxmlformats.org/officeDocument/2006/relationships/notesMaster" Target="/ppt/notesMasters/notesMaster1.xml" Id="Rae3c620ba70140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3015de53e8440d" /><Relationship Type="http://schemas.openxmlformats.org/officeDocument/2006/relationships/notesMaster" Target="/ppt/notesMasters/notesMaster1.xml" Id="Rf1d3b6c1ad0a4a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f2ce05651f4913" /><Relationship Type="http://schemas.openxmlformats.org/officeDocument/2006/relationships/notesMaster" Target="/ppt/notesMasters/notesMaster1.xml" Id="Rb4574d4a314f4c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455a5ae1eb45ac" /><Relationship Type="http://schemas.openxmlformats.org/officeDocument/2006/relationships/notesMaster" Target="/ppt/notesMasters/notesMaster1.xml" Id="R500226f888ac40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648cd219124b61" /><Relationship Type="http://schemas.openxmlformats.org/officeDocument/2006/relationships/notesMaster" Target="/ppt/notesMasters/notesMaster1.xml" Id="R1884f356fdd74d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bb51be05a74477" /><Relationship Type="http://schemas.openxmlformats.org/officeDocument/2006/relationships/notesMaster" Target="/ppt/notesMasters/notesMaster1.xml" Id="R5892c79eb78c4e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f3ed62ff54c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0d56ee7cfa41cb" /><Relationship Type="http://schemas.openxmlformats.org/officeDocument/2006/relationships/slideLayout" Target="/ppt/slideLayouts/slideLayout1.xml" Id="R844bfb622c0b45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4bfb622c0b45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6b172a6314124" /><Relationship Type="http://schemas.openxmlformats.org/officeDocument/2006/relationships/notesSlide" Target="/ppt/notesSlides/notesSlide1.xml" Id="R425d8e6f9d1e4e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e20873f90494a" /><Relationship Type="http://schemas.openxmlformats.org/officeDocument/2006/relationships/notesSlide" Target="/ppt/notesSlides/notesSlide2.xml" Id="Rf2cf6dbfc9b24b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98a04b3b54a77" /><Relationship Type="http://schemas.openxmlformats.org/officeDocument/2006/relationships/notesSlide" Target="/ppt/notesSlides/notesSlide3.xml" Id="R3c2034b057b24a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e3bd2da854d89" /><Relationship Type="http://schemas.openxmlformats.org/officeDocument/2006/relationships/notesSlide" Target="/ppt/notesSlides/notesSlide4.xml" Id="Red36b0e570f04b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47a70ad1e4cd4" /><Relationship Type="http://schemas.openxmlformats.org/officeDocument/2006/relationships/notesSlide" Target="/ppt/notesSlides/notesSlide5.xml" Id="R82b79f9294fc47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eefcab654441f" /><Relationship Type="http://schemas.openxmlformats.org/officeDocument/2006/relationships/chart" Target="/ppt/slides/charts/chart1.xml" Id="Rb584e0e18b464782" /><Relationship Type="http://schemas.openxmlformats.org/officeDocument/2006/relationships/notesSlide" Target="/ppt/notesSlides/notesSlide6.xml" Id="R5cb2e0f2e43b43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a542c996e41f8" /><Relationship Type="http://schemas.openxmlformats.org/officeDocument/2006/relationships/notesSlide" Target="/ppt/notesSlides/notesSlide7.xml" Id="Ref30b50331e74d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7cae3cf2c4882" /><Relationship Type="http://schemas.openxmlformats.org/officeDocument/2006/relationships/notesSlide" Target="/ppt/notesSlides/notesSlide8.xml" Id="R6874ddbc8d6148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911e51f4543d3" /><Relationship Type="http://schemas.openxmlformats.org/officeDocument/2006/relationships/notesSlide" Target="/ppt/notesSlides/notesSlide9.xml" Id="R44b6dc2911c04da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成熟度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芯片</c:v>
              </c:pt>
              <c:pt idx="1">
                <c:v>网络</c:v>
              </c:pt>
              <c:pt idx="2">
                <c:v>数据中心</c:v>
              </c:pt>
              <c:pt idx="3">
                <c:v>模型平台</c:v>
              </c:pt>
              <c:pt idx="4">
                <c:v>应用生态</c:v>
              </c:pt>
            </c:strLit>
          </c:cat>
          <c:val>
            <c:numLit>
              <c:formatCode>General</c:formatCode>
              <c:ptCount val="5"/>
              <c:pt idx="0">
                <c:v>82</c:v>
              </c:pt>
              <c:pt idx="1">
                <c:v>68</c:v>
              </c:pt>
              <c:pt idx="2">
                <c:v>76</c:v>
              </c:pt>
              <c:pt idx="3">
                <c:v>72</c:v>
              </c:pt>
              <c:pt idx="4">
                <c:v>64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7C138-D56C-4D75-9F51-F3ED7EF7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7D836-899D-47ED-B5CC-CA1645DA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29125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A45AD-5F35-4397-95C2-1B03F4BB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科技前沿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9A539-77F7-4962-888F-CEA89347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810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AI 科技发展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A0F00-965B-4364-98B1-77BD72F2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685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从算法突破到智能基础设施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0C503-FBD5-4D20-B809-8683A218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657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理解演进逻辑、产业影响与下一阶段机会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96CAE-93DC-4AA1-995E-208545D9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876300"/>
            <a:ext cx="2095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616CF-26CE-473D-8596-C6A31F41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67250"/>
            <a:ext cx="2095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
数据
算力</a:t>
            </a:r>
          </a:p>
        </p:txBody>
      </p:sp>
    </p:spTree>
    <p:extLst>
      <p:ext uri="{BB962C8B-B14F-4D97-AF65-F5344CB8AC3E}">
        <p14:creationId xmlns:p14="http://schemas.microsoft.com/office/powerpoint/2010/main" val="9621877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0D019-C6F6-43BB-9B2B-D92FAF1F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AI 的发展不是直线，而是多轮技术积累后的跃迁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66750" y="3390900"/>
            <a:ext cx="10668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2DFBE-FFD9-45A1-B075-A7DBFA42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BB0F2-C42D-44D0-A073-A6FDB5F8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1956—1980s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0D188-90C8-4C53-BACF-B30AA0BA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符号主义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C9222-524E-41FD-AED6-807A8226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23837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规则、搜索与专家系统
建立机器推理的早期框架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532AF-0E8F-4213-845F-64E0B186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05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7459B-9DBB-4FF7-ACC7-F06A58EF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1990s—2011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956EE-F14C-41D1-922C-D877F58A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2905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统计学习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6D25B-73C9-42E4-AC2B-BD591AF5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00550"/>
            <a:ext cx="223837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数据驱动方法兴起
支持向量机与集成学习普及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2D0FF-DEC2-4AC4-A180-F544EF92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635B4-A419-419C-9FA5-2145B00C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2012—2021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02E51-422E-4C3D-BBE2-4D53B493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深度学习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20199-A253-43BB-937B-FC3FF649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00550"/>
            <a:ext cx="223837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GPU 与大数据推动感知突破
视觉、语音和翻译快速进步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9169A-511B-4B58-B787-F88D3CF6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05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67D50-30E1-46BA-957E-3DAFC582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2022—至今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675AF-3E36-4C06-BF9E-6B2DD66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2905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生成式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F88E9-FCC5-4839-84E7-EDFE6E37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00550"/>
            <a:ext cx="223837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基础模型走向通用交互
多模态与智能体加速落地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421E3-02D0-4779-AE29-683D580E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3797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2FA9B-1E3C-43D2-A716-D0B68994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算法、数据与算力共同决定 AI 能力边界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7C177-1E60-4A85-B018-A062586A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81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33621-FB15-4185-82DC-B6DD0165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81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8FF48-4AF2-413B-BE3E-E61661B0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76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F2F73-72F0-4661-9A9A-D53E844C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304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算法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7A965-2BBB-4F04-AD1F-72489A2C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304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Transformer、扩散模型与强化学习提升了表示、生成和决策能力。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72F16-1719-46ED-B9EE-FD0FFF5F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81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6BE69-452F-4EEE-AC08-2F82581A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81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2238C-099D-4AA9-A87B-45B48254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43125"/>
            <a:ext cx="76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28405-557F-4A0B-B916-1880F294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304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1653B-AF46-42D5-A765-637A2ADE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304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高质量语料、合成数据与反馈数据决定模型知识覆盖和行为质量。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80450-370E-4D9E-B3F8-4C7E306D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581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C6F56-6F7A-455C-BD37-D42E78E9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581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5E717-F455-4733-A33C-D7C2E664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43125"/>
            <a:ext cx="76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24671-AF4A-4B39-AA17-B4E423F2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304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算力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6066A-DE9B-4520-A787-B0D375D5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304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GPU、专用芯片和分布式训练将更大模型变成可实现的工程系统。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49033-D7EE-4B7B-8D46-D86AFCAA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三者形成正反馈：更好的模型产生更多数据，也催生更高效的计算架构。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A00C2-59A4-43C4-851C-895CF19F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9298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4964F-836D-4541-9D00-A9A0F1C4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生成式 AI 正从“会回答”走向“能完成任务”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711AE-1A68-4184-909B-5495B430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383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273F0-C777-4C2A-857A-35364AA0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57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0D0CA-A53C-4044-B076-B446A49E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1857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基础模型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81A2B-6685-4C96-B5D4-C7AF5429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857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语言 · 视觉 · 语音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0FE36-3F56-4BE6-884A-4C0E4E5B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0375"/>
            <a:ext cx="742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409BC-7C6B-479A-843A-1D20FDDE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2383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4510D-AAC4-48AF-8EDD-CFFDD712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57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9389F-1EED-4D5A-84AB-3A6B3447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81325"/>
            <a:ext cx="1857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工具调用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4CC0B-4A5A-4A25-AF6A-C83D47BC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1857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搜索 · 代码 · 数据库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C22B3-A83B-496D-AD2C-1919DEE2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00375"/>
            <a:ext cx="742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BB66C-E84B-415B-8D80-FCE99D4E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2383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AEE2B-2B66-44A1-92D7-D07425C3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57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6050D-DFB3-45CB-A365-23C3655C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81325"/>
            <a:ext cx="1857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记忆与规划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E5C8E-619B-4D71-BB8B-96864142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1857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上下文 · 分解 · 反思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5C662-F4EE-4FDD-A8DC-5E7D4B0A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00375"/>
            <a:ext cx="742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3F13C-3715-4D52-8C85-56A92733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2383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58E73-6265-4FF1-9058-D7011B6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57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D97D0-0D69-4F6D-92A3-C98C57D6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81325"/>
            <a:ext cx="1857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智能体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27C28-7B72-4DAC-B551-3A602D72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43300"/>
            <a:ext cx="1857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 · 协作 · 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98497-5378-4873-A569-A40EBF56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80585-3952-4A8F-AB45-8E78471D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72025"/>
            <a:ext cx="88106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模型能力不再只是聊天窗口中的内容生成，而是被嵌入业务流程，连接工具并持续执行。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A2B46-6C74-407B-B937-211BEBE3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97709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D299E8-A75A-4639-9258-D897D4F8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产业价值首先出现在高频、知识密集和可验证的流程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CE140-F2DE-476E-B53A-65BD9CF9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42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26227-72AB-41D5-A722-7682EAC9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软件研发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732A3-6ABB-48ED-94F9-FF7D776B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428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代码补全 · 测试生成
缺陷定位 · 文档维护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3286125"/>
            <a:ext cx="2428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9A055-1DE4-4559-A34A-77BC7D71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24000"/>
            <a:ext cx="42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592E0-25B3-47A1-BBE4-28B83FD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240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1E211-7E6F-4A5D-9562-93B1B424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0300"/>
            <a:ext cx="2428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智能问答 · 工单总结
坐席辅助 · 质检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3257550" y="3286125"/>
            <a:ext cx="2428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E6B0E-2FE4-4A46-94C9-CFCAE0D2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42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7B61B-9A6D-48DF-89DE-29C377C4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240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内容与营销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E93F5-FAC7-49E4-AD43-95C42BCE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2428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创意生成 · 个性化
素材生产 · 效果分析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6115050" y="3286125"/>
            <a:ext cx="2428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CAC22-1E25-4B0C-A46D-5154F9E7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24000"/>
            <a:ext cx="42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F792A-41C8-4E05-9C85-64FDF7CA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240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科研与医疗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460CE-C72C-4771-A7D4-F60A326D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428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文献检索 · 分子设计
影像辅助 · 临床记录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8972550" y="3286125"/>
            <a:ext cx="2428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F8ABC-9DD5-4E5C-B7ED-53877658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42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ACCF1-F508-432D-8FAC-F971A9C4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制造业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042F3-B42C-4DC3-867C-FB4A8BF0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2428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视觉质检 · 预测维护
工艺优化 · 机器人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00050" y="5476875"/>
            <a:ext cx="2428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738A8-02CD-44E9-AE97-FA8238ED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14750"/>
            <a:ext cx="42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30CEB-F166-4264-A292-7082CDCD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金融服务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DAB388-ECBB-45A3-8B6D-6A95B2E4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91050"/>
            <a:ext cx="2428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研究辅助 · 风险识别
合规审查 · 运营自动化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3257550" y="5476875"/>
            <a:ext cx="2428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B50C4-85A1-4042-BDC5-A8E5E62F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42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8CC3E5-F8DD-411C-9C0F-7FD61B38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教育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937B8-784D-4CBE-9E1C-51E9C9E3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2428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自适应辅导 · 备课
评价反馈 · 内容生成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6115050" y="5476875"/>
            <a:ext cx="2428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3C2398-276F-45D2-8465-C2C9196A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42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8A22D5-9F3B-4985-A1F9-0A008A91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148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企业管理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40D5BF-58E3-4480-AD42-CE9B505E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91050"/>
            <a:ext cx="2428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知识检索 · 会议总结
数据分析 · 决策支持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8972550" y="5476875"/>
            <a:ext cx="2428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FF6E44-1955-41AF-BCAE-BB93ED39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5298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A7453-EC09-4E07-96A0-FF329A80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AI 竞争正在扩展为一场完整的基础设施竞赛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7789A-77D7-4577-9507-397A5BEB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相对能力示意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F9026-98B4-491F-9D6C-B2BC2809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C1538-3CEF-4DF7-BF76-EEEBF20A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芯片与互联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5DB58-416C-4BAC-8F5B-85AB4C73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3905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训练效率、推理成本与能耗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538E5-937B-455B-8B7C-CAF32F81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3AF21-26D2-4BAF-AA7D-44C3D9D1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云与数据中心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001C0-BA40-4C71-87AC-FCCEA23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3905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弹性算力、集群调度与供电散热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393CB-8C17-4616-BE4D-9010A1F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3EB92-044D-4884-A0C7-202E9EC3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模型与开发平台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6FE1B-F2B1-4CFF-B52B-E8E84F72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905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开源生态、工具链与应用分发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3CF0D-1091-4352-A959-984017B7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5524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84e0e18b464782"/>
          </a:graphicData>
        </a:graphic>
      </p:graphicFrame>
    </p:spTree>
    <p:extLst>
      <p:ext uri="{BB962C8B-B14F-4D97-AF65-F5344CB8AC3E}">
        <p14:creationId xmlns:p14="http://schemas.microsoft.com/office/powerpoint/2010/main" val="1289005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1DD9FD-C38A-43CD-8D49-941208E1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能力提升越快，治理越需要嵌入产品与组织流程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59093-F302-459C-9169-2D2DC11E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354B8-233F-4601-B297-8467604F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可靠性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8CBC6-F552-41A5-A5E5-70001CE8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238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幻觉、脆弱性与不可预测输出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E4DDE-7A34-4850-9146-AA6B78B4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CEF92-5BB1-429C-BB21-B2A4F9A1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71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应对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D8405-57C1-4F52-BF7F-258DAA87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57700"/>
            <a:ext cx="2047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评测集 + 人工复核 + 运行监控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108DC-E2E8-424D-9156-9F2081CF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71625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CB685-CD96-4446-8585-D2FC6324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43125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安全与隐私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BCADB-F84C-4ECD-9BCB-FEEC810E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09875"/>
            <a:ext cx="238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提示注入、数据泄露与滥用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C78C0-26FE-4234-A8B0-94C2B53B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2C64B-09CF-4A55-9253-1A6EF2AA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95750"/>
            <a:ext cx="571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应对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439FE-49F2-4D25-A143-08793971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457700"/>
            <a:ext cx="2047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权限隔离 + 数据最小化 + 红队测试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4762F-4CCE-4639-93E3-7686A36F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71625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C21A7-CCC8-41C0-A9D7-72073021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公平与责任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2948A-FE96-4495-85A6-FB68A479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9875"/>
            <a:ext cx="238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偏差、歧视与责任边界不清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C2067-8900-4AA7-9544-1F5FAC60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052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5274D-C983-4C31-848D-4C6F2F85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95750"/>
            <a:ext cx="571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应对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C6260-AF4D-42D0-A2F6-7DB5A6DA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57700"/>
            <a:ext cx="2047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影响评估 + 可追溯记录 + 责任人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83CF2-8B22-4754-8B76-49EEA2E2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71625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5F792-676A-4238-8933-6E622CCF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版权与合规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C3AE5-3349-42B7-BFD7-C3511C7C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09875"/>
            <a:ext cx="238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训练数据、生成内容和跨境要求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AF0C1-8579-447E-A7A4-46DD38A7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052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8DF65-ABA2-4557-9556-01268655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95750"/>
            <a:ext cx="571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应对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B2842-A5B4-4C08-883C-0FCB6406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457700"/>
            <a:ext cx="2047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来源治理 + 合同约束 + 持续审计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9292C-3E62-4B94-9DFD-3A37D126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00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治理不是创新的刹车，而是规模化采用的前提。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AB749A-059A-4640-A38B-BA51F8FF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4222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1BC2B-413B-4DA3-9FEB-8EBF4317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下一阶段，AI 将更小、更专、更自主，也更贴近物理世界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3E8FF-6215-433D-9948-FF49E805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05140-FC60-42B0-A6D0-722F069B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模型效率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CC3EA-17BC-4105-9642-C4785F5D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09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蒸馏、量化和稀疏化让高性能模型进入端侧。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E2F96-F288-4C9B-9ED0-7C3DA2E7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6687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14108-92D4-4D8D-AD6A-A03C1BB1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多模态原生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525C4-3AA6-41A2-822F-6D84EC50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209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文本、图像、声音与视频在统一模型中协同。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65CCB-DF0B-4070-9588-0C6A8213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6687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777A5-690D-4B1F-B815-BC8AD790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智能体协作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D3CC3-9307-4493-85BD-9F0B0E0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209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多个智能体分工、调用工具并形成可审计工作流。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15638-F1A1-40D3-898F-5D431C35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6687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5D302-9DBC-4998-9F15-849496C3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9547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具身智能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C1896-17E2-412B-AA73-F92253F0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28875"/>
            <a:ext cx="209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AI 与机器人结合，在真实环境中感知和行动。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08C3A-8262-4FB7-B081-61C5C800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5762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2B347-126C-49E5-A765-48DC5144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8622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科学智能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381A6-AD64-4A66-A437-99A104B7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19625"/>
            <a:ext cx="209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模型参与假设生成、实验设计与材料发现。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15FC4-C35B-4923-BA4B-DFBDA31B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5762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6459-E50C-419D-8C11-414F6EEC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8622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个性化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BB02F-2179-424B-9100-FD7F593C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19625"/>
            <a:ext cx="209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长期记忆与本地数据形成个人和组织智能层。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4E455-ED68-4799-9E40-C587DE4D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5762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E69E7-4681-455C-8899-96147572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8622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可信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18067-2B3A-4D45-B078-31835494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19625"/>
            <a:ext cx="209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评测、溯源和安全机制逐渐成为基础能力。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A9ABD-28EB-4D04-9F4D-224B791D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5894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17D51-1F1E-47F1-BCF1-9DD09358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A1A26-76C8-4068-B2BF-E0618604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572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AI 的核心变化，
是智能正在成为基础设施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3714750"/>
            <a:ext cx="10668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5EC81-5E79-4DD7-BF06-3D267FCA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01  选择高价值流程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65BC9-C25F-41C0-B2DD-E9D7BA98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38625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02  建立数据与评测闭环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3111B-67E2-4A01-A471-AD2A16AC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03  将安全治理同步设计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3C3D2-F423-4D6B-AB74-C2778966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001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t>从可验证的小场景开始，把模型能力转化为持续改进的组织能力。</a:t>
            </a:r>
          </a:p>
        </p:txBody>
      </p:sp>
    </p:spTree>
    <p:extLst>
      <p:ext uri="{BB962C8B-B14F-4D97-AF65-F5344CB8AC3E}">
        <p14:creationId xmlns:p14="http://schemas.microsoft.com/office/powerpoint/2010/main" val="1178613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2026-07-18T09:01:12.6900000Z</dcterms:created>
  <dcterms:modified xsi:type="dcterms:W3CDTF">2026-07-18T09:01:12.6900000Z</dcterms:modified>
</coreProperties>
</file>